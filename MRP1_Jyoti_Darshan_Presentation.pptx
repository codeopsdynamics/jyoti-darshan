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111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06258-9420-DDB4-8008-B35D4ACD1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0AC84-25F3-642B-CC34-268B9D169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95E"/>
        </a:solidFill>
        <a:effectLst/>
      </p:bgPr>
    </p:bg>
    <p:spTree>
      <p:nvGrpSpPr>
        <p:cNvPr id="1" name="grp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ic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logo"/>
          <p:cNvSpPr/>
          <p:nvPr/>
        </p:nvSpPr>
        <p:spPr>
          <a:xfrm>
            <a:off x="76154" y="45275"/>
            <a:ext cx="1524000" cy="1040000"/>
          </a:xfrm>
          <a:custGeom>
            <a:avLst/>
            <a:gdLst/>
            <a:ahLst/>
            <a:cxnLst/>
            <a:rect l="l" t="t" r="r" b="b"/>
            <a:pathLst>
              <a:path w="1524000" h="1040000" extrusionOk="0">
                <a:moveTo>
                  <a:pt x="0" y="0"/>
                </a:moveTo>
                <a:lnTo>
                  <a:pt x="1524000" y="0"/>
                </a:lnTo>
                <a:lnTo>
                  <a:pt x="1524000" y="1040000"/>
                </a:lnTo>
                <a:lnTo>
                  <a:pt x="0" y="10400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course_text"/>
          <p:cNvSpPr txBox="1"/>
          <p:nvPr/>
        </p:nvSpPr>
        <p:spPr>
          <a:xfrm>
            <a:off x="155286" y="1115275"/>
            <a:ext cx="4785991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Research Project - 1 (Marketing Management)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Dr. Rajeev Verma</a:t>
            </a:r>
            <a:endParaRPr lang="en-US" sz="2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opic_text"/>
          <p:cNvSpPr txBox="1"/>
          <p:nvPr/>
        </p:nvSpPr>
        <p:spPr>
          <a:xfrm>
            <a:off x="-73315" y="2683912"/>
            <a:ext cx="5164061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Topic: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Jyoti Darshan: Evaluating User Experience and Customer Acceptance of an AI-Powered Astrology Application in the Indian Market</a:t>
            </a:r>
          </a:p>
        </p:txBody>
      </p:sp>
      <p:sp>
        <p:nvSpPr>
          <p:cNvPr id="7" name="student_text"/>
          <p:cNvSpPr txBox="1"/>
          <p:nvPr/>
        </p:nvSpPr>
        <p:spPr>
          <a:xfrm>
            <a:off x="0" y="3963462"/>
            <a:ext cx="5164061" cy="87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lvl="0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Details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Himanshu Rai                    XW013-25</a:t>
            </a:r>
          </a:p>
        </p:txBody>
      </p:sp>
      <p:sp>
        <p:nvSpPr>
          <p:cNvPr id="8" name="icon_tr"/>
          <p:cNvSpPr/>
          <p:nvPr/>
        </p:nvSpPr>
        <p:spPr>
          <a:xfrm rot="-5400000">
            <a:off x="8392918" y="305812"/>
            <a:ext cx="358164" cy="417076"/>
          </a:xfrm>
          <a:custGeom>
            <a:avLst/>
            <a:gdLst/>
            <a:ahLst/>
            <a:cxnLst/>
            <a:rect l="l" t="t" r="r" b="b"/>
            <a:pathLst>
              <a:path w="716328" h="834152" extrusionOk="0">
                <a:moveTo>
                  <a:pt x="716328" y="834152"/>
                </a:moveTo>
                <a:lnTo>
                  <a:pt x="0" y="834152"/>
                </a:lnTo>
                <a:lnTo>
                  <a:pt x="0" y="0"/>
                </a:lnTo>
                <a:lnTo>
                  <a:pt x="716328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icon_bl"/>
          <p:cNvSpPr/>
          <p:nvPr/>
        </p:nvSpPr>
        <p:spPr>
          <a:xfrm rot="-5400000">
            <a:off x="307834" y="4702994"/>
            <a:ext cx="358164" cy="417076"/>
          </a:xfrm>
          <a:custGeom>
            <a:avLst/>
            <a:gdLst/>
            <a:ahLst/>
            <a:cxnLst/>
            <a:rect l="l" t="t" r="r" b="b"/>
            <a:pathLst>
              <a:path w="716328" h="834152" extrusionOk="0">
                <a:moveTo>
                  <a:pt x="716328" y="834152"/>
                </a:moveTo>
                <a:lnTo>
                  <a:pt x="0" y="834152"/>
                </a:lnTo>
                <a:lnTo>
                  <a:pt x="0" y="0"/>
                </a:lnTo>
                <a:lnTo>
                  <a:pt x="716328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2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416052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960120"/>
            <a:ext cx="475488" cy="47548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" y="1014984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 &amp; Problem Statement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536192"/>
            <a:ext cx="4160520" cy="475488"/>
          </a:xfrm>
          <a:prstGeom prst="rect">
            <a:avLst/>
          </a:prstGeom>
          <a:solidFill>
            <a:srgbClr val="EEF5FC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536192"/>
            <a:ext cx="475488" cy="47548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" y="1536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" y="1591056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112264"/>
            <a:ext cx="416052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2112264"/>
            <a:ext cx="475488" cy="47548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" y="2167128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— 12 Papers, 6 Themes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688336"/>
            <a:ext cx="4160520" cy="475488"/>
          </a:xfrm>
          <a:prstGeom prst="rect">
            <a:avLst/>
          </a:prstGeom>
          <a:solidFill>
            <a:srgbClr val="EEF5FC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2688336"/>
            <a:ext cx="475488" cy="47548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6032" y="2688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6384" y="2743200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Methodology (n=80)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3264408"/>
            <a:ext cx="416052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3264408"/>
            <a:ext cx="475488" cy="47548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" y="32644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" y="3319272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Jyoti Darshan — 4 Features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3840480"/>
            <a:ext cx="4160520" cy="475488"/>
          </a:xfrm>
          <a:prstGeom prst="rect">
            <a:avLst/>
          </a:prstGeom>
          <a:solidFill>
            <a:srgbClr val="EEF5FC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3840480"/>
            <a:ext cx="475488" cy="47548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6032" y="3840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" y="3895344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Profile &amp; Demographics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" y="4416552"/>
            <a:ext cx="416052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6032" y="4416552"/>
            <a:ext cx="475488" cy="47548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56032" y="44165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6384" y="4471416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Feature Analysis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36592" y="960120"/>
            <a:ext cx="4160520" cy="475488"/>
          </a:xfrm>
          <a:prstGeom prst="rect">
            <a:avLst/>
          </a:prstGeom>
          <a:solidFill>
            <a:srgbClr val="EEF5FC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36592" y="960120"/>
            <a:ext cx="475488" cy="47548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36592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66944" y="1014984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&amp; Usage Analysis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36592" y="1536192"/>
            <a:ext cx="416052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36592" y="1536192"/>
            <a:ext cx="475488" cy="47548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36592" y="1536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66944" y="1591056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Feedback — User Voices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36592" y="2112264"/>
            <a:ext cx="4160520" cy="475488"/>
          </a:xfrm>
          <a:prstGeom prst="rect">
            <a:avLst/>
          </a:prstGeom>
          <a:solidFill>
            <a:srgbClr val="EEF5FC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36592" y="2112264"/>
            <a:ext cx="475488" cy="47548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36592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266944" y="2167128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— TAM &amp; Market Positioning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36592" y="2688336"/>
            <a:ext cx="416052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36592" y="2688336"/>
            <a:ext cx="475488" cy="47548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36592" y="2688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11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266944" y="2743200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36592" y="3264408"/>
            <a:ext cx="4160520" cy="475488"/>
          </a:xfrm>
          <a:prstGeom prst="rect">
            <a:avLst/>
          </a:prstGeom>
          <a:solidFill>
            <a:srgbClr val="EEF5FC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736592" y="3264408"/>
            <a:ext cx="475488" cy="47548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36592" y="32644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266944" y="3319272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Roadmap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36592" y="3840480"/>
            <a:ext cx="416052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736592" y="3840480"/>
            <a:ext cx="475488" cy="47548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36592" y="3840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13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266944" y="3895344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Theoretical Contribution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736592" y="4416552"/>
            <a:ext cx="4160520" cy="475488"/>
          </a:xfrm>
          <a:prstGeom prst="rect">
            <a:avLst/>
          </a:prstGeom>
          <a:solidFill>
            <a:srgbClr val="EEF5FC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736592" y="4416552"/>
            <a:ext cx="475488" cy="47548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736592" y="44165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14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266944" y="4471416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Context &amp; Problem Statement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3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2011680" cy="1325880"/>
          </a:xfrm>
          <a:prstGeom prst="rect">
            <a:avLst/>
          </a:prstGeom>
          <a:solidFill>
            <a:srgbClr val="1E326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0241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₹20K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6032" y="16916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D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Astrology Market Size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2011680" cy="1325880"/>
          </a:xfrm>
          <a:prstGeom prst="rect">
            <a:avLst/>
          </a:prstGeom>
          <a:solidFill>
            <a:srgbClr val="253B7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50592" y="10241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50592" y="16916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D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Digital Growth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45152" y="960120"/>
            <a:ext cx="2011680" cy="1325880"/>
          </a:xfrm>
          <a:prstGeom prst="rect">
            <a:avLst/>
          </a:prstGeom>
          <a:solidFill>
            <a:srgbClr val="1E326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45152" y="10241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760M+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45152" y="16916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D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Smartphone Users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39712" y="960120"/>
            <a:ext cx="2011680" cy="1325880"/>
          </a:xfrm>
          <a:prstGeom prst="rect">
            <a:avLst/>
          </a:prstGeom>
          <a:solidFill>
            <a:srgbClr val="253B7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39712" y="10241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39712" y="16916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D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Indians Consult Astrology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" y="245059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2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6032" y="2788920"/>
            <a:ext cx="8631936" cy="658368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2788920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India's Rs.20,000 crore astrology market and 760M+ smartphone users, there is almost no academic research on how Indian users accept AI-powered spiritual applications. Most technology acceptance studies focus on Western markets or generic utility apps. This study fills the gap by evaluating Jyoti Darshan with n=80 real Indian users.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" y="35478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260"/>
                </a:solidFill>
              </a:rPr>
              <a:t>Research Gap: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950208"/>
            <a:ext cx="146304" cy="146304"/>
          </a:xfrm>
          <a:prstGeom prst="ellipse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064" y="387705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India-specific AI acceptance study in spiritual domains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950208"/>
            <a:ext cx="146304" cy="146304"/>
          </a:xfrm>
          <a:prstGeom prst="ellipse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2064" y="38862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frameworks don't capture cultural trust dynamics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950208"/>
            <a:ext cx="146304" cy="146304"/>
          </a:xfrm>
          <a:prstGeom prst="ellipse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2064" y="389534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&amp; localization barriers largely unexplored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547872"/>
            <a:ext cx="8631936" cy="566928"/>
          </a:xfrm>
          <a:prstGeom prst="rect">
            <a:avLst/>
          </a:prstGeom>
          <a:solidFill>
            <a:srgbClr val="F8F8F8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" y="3547872"/>
            <a:ext cx="8449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Research Gaps: No India-specific AI acceptance study in spiritual domains  |  Language &amp; cultural factors unexplored  |  Trust dynamics in AI astrology context unstudied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Objectives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4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548640" cy="64008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960120"/>
            <a:ext cx="800100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996696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User Satisfaction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261872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overall satisfaction using a 10-point Likert scale across n=80 respondents and analyse variation by demographic segment.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746504"/>
            <a:ext cx="548640" cy="64008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746504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1746504"/>
            <a:ext cx="800100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1783080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Valuable 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048256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which application features drive the highest perceived utility, trust, and engagement across age groups.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532888"/>
            <a:ext cx="548640" cy="64008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53288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68680" y="2532888"/>
            <a:ext cx="800100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2569464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Trust Perceptions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834640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whether trust in AI-generated astrological content varies by feature type (Birth Chart vs Face Reading vs Chatbot).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319272"/>
            <a:ext cx="548640" cy="64008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31927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8680" y="3319272"/>
            <a:ext cx="800100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0120" y="3355848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Usage Intention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621024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UTAUT-aligned behavioural intention measures to identify factors predicting continued regular app usage.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105656"/>
            <a:ext cx="548640" cy="64008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10565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RO5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68680" y="4105656"/>
            <a:ext cx="800100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0120" y="4142232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Enhancement Insights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4407408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and thematically code open-ended feedback to generate actionable product and localization recommendations.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 — 12 Papers, 6 Themes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5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41832"/>
            <a:ext cx="4160520" cy="1261872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941832"/>
            <a:ext cx="4160520" cy="347472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" y="98755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T1: AI Chatbots &amp; Trust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" y="1325880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6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Papers: Shahzad et al. 2024; Lam 2025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9184" y="1545336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Task-AI-technology fit builds trust → drives continuous use. Trust must be proactively designed, not assumed.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941832"/>
            <a:ext cx="4160520" cy="1261872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18304" y="941832"/>
            <a:ext cx="4160520" cy="347472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91456" y="98755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T2: Personalization &amp; Privacy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91456" y="1325880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6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Papers: Maseeh et al. 2023; Nikkhah et al. 2023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91456" y="1545336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reduces privacy concerns. Post-hoc vulnerabilities require continuous monitoring — especially for sensitive birth data.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313432"/>
            <a:ext cx="4160520" cy="1261872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313432"/>
            <a:ext cx="4160520" cy="347472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" y="235915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T3: Astrology/Spiritual Apps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" y="2697480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6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Papers: Sharma &amp; Patel 2023; Chen et al. 2024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" y="2916936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prefer AI for daily insights; human for major decisions. Transparency + authenticity → 42% higher trust.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18304" y="2313432"/>
            <a:ext cx="4160520" cy="1261872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18304" y="2313432"/>
            <a:ext cx="4160520" cy="347472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91456" y="235915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T4: AI in Wellness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91456" y="2697480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6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Papers: Martinez et al. 2024; Gupta &amp; Mehta 2023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91456" y="2916936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Perceived usefulness drives adoption. Privacy concerns reduce acceptance 28% among 25-40 age group.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685032"/>
            <a:ext cx="4160520" cy="1261872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3685032"/>
            <a:ext cx="4160520" cy="347472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9184" y="373075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T5: Face Recognition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" y="4069080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6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Papers: Kim et al. 2023; Rodriguez &amp; Chen 2024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9184" y="4288536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features increase engagement 45% but 61% have privacy concerns. Value = entertainment over accuracy.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18304" y="3685032"/>
            <a:ext cx="4160520" cy="1261872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18304" y="3685032"/>
            <a:ext cx="4160520" cy="347472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91456" y="373075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T6: Technology Acceptance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91456" y="4069080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6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Papers: Davis et al. 2023; Alalwan et al. 2024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91456" y="4288536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+ UTAUT validated. Personalization increases retention 38%. Trust moderates all relationships in AI.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Methodology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6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514600" cy="64008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960120"/>
            <a:ext cx="603504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07792" y="960120"/>
            <a:ext cx="5888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Mixed-Methods Exploratory | Descriptive Cross-Sectional | Interpretivist Stance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514600" cy="64008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645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1645920"/>
            <a:ext cx="603504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07792" y="1645920"/>
            <a:ext cx="5888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Forms Structured Survey — n=80 Indian users (January 21 – March 15, 2026)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2514600" cy="64008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3317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Instrument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2331720"/>
            <a:ext cx="603504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07792" y="2331720"/>
            <a:ext cx="5888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questions: demographics, feature usage, satisfaction (10-pt Likert), trust, usage intention, 2 open-ended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2514600" cy="64008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0175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Strategy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3017520"/>
            <a:ext cx="603504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07792" y="3017520"/>
            <a:ext cx="5888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Convenience + Snowball sampling — by age group (18-25, 26-30, 31-35, 36+) and astrology interest level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703320"/>
            <a:ext cx="2514600" cy="64008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37033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Method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3703320"/>
            <a:ext cx="603504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07792" y="3703320"/>
            <a:ext cx="5888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stats → Cross-tabulation → Correlation → Thematic coding of qualitative feedback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389120"/>
            <a:ext cx="2514600" cy="56692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43891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Lens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4389120"/>
            <a:ext cx="6035040" cy="566928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07792" y="4389120"/>
            <a:ext cx="58887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(Davis 2023) + UTAUT (Alalwan 2024) + Trust in AI (Lam 2025) + Spiritual Apps (Chen 2024)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Overview: Jyoti Darshan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7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41832"/>
            <a:ext cx="4160520" cy="1737360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941832"/>
            <a:ext cx="548640" cy="173736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941832"/>
            <a:ext cx="548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1014984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Birth Chart (Kundli)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1380744"/>
            <a:ext cx="34564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planetary positions calculated via JavaScript ephemeris + geocoding API. AI interpretation by Claude API. 5 planets shown with life significance.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941832"/>
            <a:ext cx="4160520" cy="1737360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18304" y="941832"/>
            <a:ext cx="548640" cy="173736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18304" y="941832"/>
            <a:ext cx="548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0096" y="1014984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Astrologer Chatbot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0096" y="1380744"/>
            <a:ext cx="34564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guidance on love, career, health, finances. Context-aware Claude API. 10+ life domains covered with tailored astrological framing.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825496"/>
            <a:ext cx="4160520" cy="1737360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825496"/>
            <a:ext cx="548640" cy="173736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" y="2825496"/>
            <a:ext cx="548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" y="2898648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Horoscope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" y="3264408"/>
            <a:ext cx="34564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daily predictions per zodiac sign. Lucky numbers, colours, 4-domain guidance (General, Love, Career, Health). High shareability.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18304" y="2825496"/>
            <a:ext cx="4160520" cy="1737360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18304" y="2825496"/>
            <a:ext cx="548640" cy="173736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18304" y="2825496"/>
            <a:ext cx="548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0096" y="2898648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Reading (Beta)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0096" y="3264408"/>
            <a:ext cx="34564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personality insights from uploaded photo. Ancient Samudrika Shastra principles + modern AI. Highest trial rate — novelty + zero commitment barrier.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" y="4809744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Live: codeopsdynamics.github.io/jyoti-darshan  |  GitHub: github.com/CodeOpsDynamics/jyoti-darshan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Profile (n = 80)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8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914400" cy="36576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60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#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16152" y="960120"/>
            <a:ext cx="1600200" cy="36576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16152" y="960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 Group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62072" y="960120"/>
            <a:ext cx="1600200" cy="36576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62072" y="960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Count / 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07992" y="960120"/>
            <a:ext cx="2194560" cy="36576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07992" y="960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Interest Level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48272" y="960120"/>
            <a:ext cx="2304288" cy="36576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48272" y="960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Satisfaction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1371600"/>
            <a:ext cx="91440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" y="1371600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16152" y="1371600"/>
            <a:ext cx="160020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52728" y="1371600"/>
            <a:ext cx="1545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18–25 yrs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62072" y="1371600"/>
            <a:ext cx="160020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98648" y="1371600"/>
            <a:ext cx="1545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(11.3%)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07992" y="1371600"/>
            <a:ext cx="219456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44568" y="1371600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Very Interested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48272" y="1371600"/>
            <a:ext cx="2304288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84848" y="1371600"/>
            <a:ext cx="2459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 / 10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1901952"/>
            <a:ext cx="9144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2608" y="1901952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216152" y="1901952"/>
            <a:ext cx="16002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52728" y="1901952"/>
            <a:ext cx="1545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26–30 yrs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62072" y="1901952"/>
            <a:ext cx="16002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898648" y="1901952"/>
            <a:ext cx="1545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(18.8%)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07992" y="1901952"/>
            <a:ext cx="219456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44568" y="1901952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Interest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48272" y="1901952"/>
            <a:ext cx="230428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84848" y="1901952"/>
            <a:ext cx="2459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 / 10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" y="2432304"/>
            <a:ext cx="91440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92608" y="2432304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216152" y="2432304"/>
            <a:ext cx="160020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252728" y="2432304"/>
            <a:ext cx="1545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31–35 yrs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62072" y="2432304"/>
            <a:ext cx="160020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898648" y="2432304"/>
            <a:ext cx="1545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(30.0%)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07992" y="2432304"/>
            <a:ext cx="2194560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44568" y="2432304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Somewhat to Very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748272" y="2432304"/>
            <a:ext cx="2304288" cy="475488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84848" y="2432304"/>
            <a:ext cx="2459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 / 10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" y="2962656"/>
            <a:ext cx="9144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92608" y="2962656"/>
            <a:ext cx="85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216152" y="2962656"/>
            <a:ext cx="16002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252728" y="2962656"/>
            <a:ext cx="1545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36+ yrs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862072" y="2962656"/>
            <a:ext cx="16002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898648" y="2962656"/>
            <a:ext cx="1545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(40.0%)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07992" y="2962656"/>
            <a:ext cx="219456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44568" y="2962656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Interested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748272" y="2962656"/>
            <a:ext cx="230428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784848" y="2962656"/>
            <a:ext cx="2459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 / 10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56032" y="36393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260"/>
                </a:solidFill>
              </a:rPr>
              <a:t>Interest Split: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56032" y="3950208"/>
            <a:ext cx="3291840" cy="493776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92608" y="3950208"/>
            <a:ext cx="3218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Very Interested  58.8%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163824" y="3950208"/>
            <a:ext cx="2377440" cy="493776"/>
          </a:xfrm>
          <a:prstGeom prst="rect">
            <a:avLst/>
          </a:prstGeom>
          <a:solidFill>
            <a:srgbClr val="253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200400" y="3950208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Somewhat  26.3%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071616" y="3950208"/>
            <a:ext cx="1371600" cy="493776"/>
          </a:xfrm>
          <a:prstGeom prst="rect">
            <a:avLst/>
          </a:prstGeom>
          <a:solidFill>
            <a:srgbClr val="B8D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108192" y="3950208"/>
            <a:ext cx="12984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Not Really  15.0%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Horoscope — Feature Demo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7A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160520" cy="347472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89611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Select Your Zodiac 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27448" y="896112"/>
            <a:ext cx="4160520" cy="347472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27448" y="89611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Receive Your Daily Prediction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298448"/>
            <a:ext cx="4160520" cy="338328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298448"/>
            <a:ext cx="4160520" cy="33832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6032" y="4718304"/>
            <a:ext cx="8631936" cy="347472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47472" y="4718304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zodiac signs supported  |  AI-powered predictions refresh daily  |  4 life domains + Lucky Numbers + Lucky Color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9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41832"/>
            <a:ext cx="4160520" cy="1188720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941832"/>
            <a:ext cx="548640" cy="1188720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941832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7824" y="98755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Strong Within Core Segment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1325880"/>
            <a:ext cx="3456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7.62/10 mean (median 9.0). 55% scored 8+. Bimodal: highly satisfied core vs. language-barrier outliers.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941832"/>
            <a:ext cx="4160520" cy="1188720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18304" y="941832"/>
            <a:ext cx="548640" cy="1188720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18304" y="941832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0096" y="98755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Reading Drives Acquisition; Birth Chart Drives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0096" y="1325880"/>
            <a:ext cx="3456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Reading = highest trial rate (novelty). Birth Chart tied as most valuable (50% each) — high trial-to-value conversion.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267712"/>
            <a:ext cx="4160520" cy="1188720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267712"/>
            <a:ext cx="548640" cy="1188720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" y="2267712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" y="231343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Language = #1 Adoption Barrier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" y="2651760"/>
            <a:ext cx="3456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(28/80) explicitly requested Hindi unprompted. Direct cause of study's lowest satisfaction score (1/10).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18304" y="2267712"/>
            <a:ext cx="4160520" cy="1188720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18304" y="2267712"/>
            <a:ext cx="548640" cy="1188720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18304" y="2267712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0096" y="231343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Predicts Retention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0096" y="2651760"/>
            <a:ext cx="3456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≥8 → 78% definite regular use. Users &lt;6 → 85% not using regularly. Satisfaction = leading retention indicator.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593592"/>
            <a:ext cx="4160520" cy="1188720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3593592"/>
            <a:ext cx="548640" cy="1188720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6032" y="3593592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77824" y="363931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 Underperforming vs. Potential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7824" y="3977640"/>
            <a:ext cx="3456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trial rate (18%) despite being highest-value feature. Discoverability challenge — not a capability gap.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18304" y="3593592"/>
            <a:ext cx="4160520" cy="1188720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18304" y="3593592"/>
            <a:ext cx="548640" cy="1188720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18304" y="3593592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40096" y="3639312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Advocacy at 38.8%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0096" y="3977640"/>
            <a:ext cx="34564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unprompted positive comments: "accurate," "will recommend to family," "very impressive." Strong advocacy base.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Analysis — Usage, Value &amp; Trust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10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1866609" cy="36576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60120"/>
            <a:ext cx="18666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65064" y="960120"/>
            <a:ext cx="1527225" cy="36576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65064" y="960120"/>
            <a:ext cx="15272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Trial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34712" y="960120"/>
            <a:ext cx="1612071" cy="36576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34712" y="977876"/>
            <a:ext cx="16120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Most Valuable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89206" y="960120"/>
            <a:ext cx="1654494" cy="36576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89206" y="960120"/>
            <a:ext cx="16544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Most Trustworthy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123" y="960120"/>
            <a:ext cx="1993877" cy="36576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86123" y="960120"/>
            <a:ext cx="199387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1371600"/>
            <a:ext cx="1866609" cy="594360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8455" y="1371600"/>
            <a:ext cx="17987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Reading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65064" y="1371600"/>
            <a:ext cx="1527225" cy="594360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07486" y="1371600"/>
            <a:ext cx="145934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(51%)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34712" y="1371600"/>
            <a:ext cx="1612071" cy="594360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77135" y="1371600"/>
            <a:ext cx="154419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89206" y="1371600"/>
            <a:ext cx="1654494" cy="594360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31629" y="1371600"/>
            <a:ext cx="158661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58.8%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86123" y="1371600"/>
            <a:ext cx="1993877" cy="594360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28546" y="1371600"/>
            <a:ext cx="192600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Novelty-driven entry; builds initial trust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" y="2029968"/>
            <a:ext cx="1866609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8455" y="2029968"/>
            <a:ext cx="17987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Birth Chart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65064" y="2029968"/>
            <a:ext cx="1527225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07486" y="2029968"/>
            <a:ext cx="145934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(46%)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734712" y="2029968"/>
            <a:ext cx="1612071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77135" y="2029968"/>
            <a:ext cx="154419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89206" y="2029968"/>
            <a:ext cx="1654494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31629" y="2029968"/>
            <a:ext cx="158661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32.5%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086123" y="2029968"/>
            <a:ext cx="1993877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28546" y="2029968"/>
            <a:ext cx="192600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utility; high trial-to-value conversion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6032" y="2688336"/>
            <a:ext cx="1866609" cy="594360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98455" y="2688336"/>
            <a:ext cx="17987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Horoscope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65064" y="2688336"/>
            <a:ext cx="1527225" cy="594360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207486" y="2688336"/>
            <a:ext cx="145934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(30%)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734712" y="2688336"/>
            <a:ext cx="1612071" cy="594360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77135" y="2688336"/>
            <a:ext cx="154419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389206" y="2688336"/>
            <a:ext cx="1654494" cy="594360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31629" y="2688336"/>
            <a:ext cx="158661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086123" y="2688336"/>
            <a:ext cx="1993877" cy="594360"/>
          </a:xfrm>
          <a:prstGeom prst="rect">
            <a:avLst/>
          </a:prstGeom>
          <a:solidFill>
            <a:srgbClr val="D6E8F5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128546" y="2688336"/>
            <a:ext cx="192600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tool; high shareability potential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56032" y="3346704"/>
            <a:ext cx="1866609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98455" y="3346704"/>
            <a:ext cx="17987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165064" y="3346704"/>
            <a:ext cx="1527225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207486" y="3346704"/>
            <a:ext cx="145934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(18%)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734712" y="3346704"/>
            <a:ext cx="1612071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777135" y="3346704"/>
            <a:ext cx="154419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389206" y="3346704"/>
            <a:ext cx="1654494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431629" y="3346704"/>
            <a:ext cx="158661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086123" y="3346704"/>
            <a:ext cx="1993877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128546" y="3346704"/>
            <a:ext cx="192600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potential; discoverability gap to fix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74320" y="4187952"/>
            <a:ext cx="8595360" cy="56692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65760" y="418795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Pattern: Entertainment (Face Reading) drives acquisition → Utility (Birth Chart) drives retention → Chatbot drives monetisation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Satisfaction &amp; Usage Analysis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11 / 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93268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260"/>
                </a:solidFill>
              </a:rPr>
              <a:t>Avg Satisfaction by Age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" y="137160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18-25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1353312"/>
            <a:ext cx="2849270" cy="457200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55110" y="137160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8.2/10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" y="20299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26-30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2011680"/>
            <a:ext cx="2640787" cy="457200"/>
          </a:xfrm>
          <a:prstGeom prst="rect">
            <a:avLst/>
          </a:prstGeom>
          <a:solidFill>
            <a:srgbClr val="253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46627" y="202996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7.6/10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" y="268833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31-35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2670048"/>
            <a:ext cx="2745029" cy="457200"/>
          </a:xfrm>
          <a:prstGeom prst="rect">
            <a:avLst/>
          </a:prstGeom>
          <a:solidFill>
            <a:srgbClr val="3D6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50869" y="2688336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7.9/10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" y="33467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36+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3328416"/>
            <a:ext cx="2571293" cy="457200"/>
          </a:xfrm>
          <a:prstGeom prst="rect">
            <a:avLst/>
          </a:prstGeom>
          <a:solidFill>
            <a:srgbClr val="4A8D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77133" y="334670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7.4/10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932688"/>
            <a:ext cx="0" cy="3840480"/>
          </a:xfrm>
          <a:prstGeom prst="line">
            <a:avLst/>
          </a:prstGeom>
          <a:noFill/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9326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260"/>
                </a:solidFill>
              </a:rPr>
              <a:t>Regular Usage Intention (n=80)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353312"/>
            <a:ext cx="2926080" cy="56692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14630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Definitely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1481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48.8%  (n=39)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194560"/>
            <a:ext cx="2194560" cy="566928"/>
          </a:xfrm>
          <a:prstGeom prst="rect">
            <a:avLst/>
          </a:prstGeom>
          <a:solidFill>
            <a:srgbClr val="253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3042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Maybe Occasionally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23225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35.0%  (n=28)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035808"/>
            <a:ext cx="1097280" cy="566928"/>
          </a:xfrm>
          <a:prstGeom prst="rect">
            <a:avLst/>
          </a:prstGeom>
          <a:solidFill>
            <a:srgbClr val="B8D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314553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31638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16.3%  (n=13)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187952"/>
            <a:ext cx="8595360" cy="56692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18795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≥8 → 78% definite regular use  |  Satisfaction &lt;6 → 85% not regular  |  Satisfaction is leading retention predictor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Feedback — User Voices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12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2286000" cy="658368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1752" y="9966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Localization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13441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mentions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7752" y="960120"/>
            <a:ext cx="6300216" cy="658368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79192" y="960120"/>
            <a:ext cx="6117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 in Hindi" | "Give me Hindi" | "Tamil language chahiye"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728216"/>
            <a:ext cx="2286000" cy="65836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1752" y="17647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Depth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" y="211226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mentions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87752" y="1728216"/>
            <a:ext cx="6300216" cy="658368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79192" y="1728216"/>
            <a:ext cx="6117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"More detailed info required" | "Include dasha predictions" | "Add nakshatra details"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496312"/>
            <a:ext cx="2286000" cy="658368"/>
          </a:xfrm>
          <a:prstGeom prst="rect">
            <a:avLst/>
          </a:prstGeom>
          <a:solidFill>
            <a:srgbClr val="3D6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1752" y="25328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Expansion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" y="288036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mentions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87752" y="2496312"/>
            <a:ext cx="6300216" cy="658368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79192" y="2496312"/>
            <a:ext cx="6117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"Kundali matching feature" | "Add muhurat calculator" | "Live chat with astrologer"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3264408"/>
            <a:ext cx="2286000" cy="658368"/>
          </a:xfrm>
          <a:prstGeom prst="rect">
            <a:avLst/>
          </a:prstGeom>
          <a:solidFill>
            <a:srgbClr val="B8D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1752" y="33009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/ Visual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" y="364845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mentions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87752" y="3264408"/>
            <a:ext cx="6300216" cy="658368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79192" y="3264408"/>
            <a:ext cx="6117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"Better visual effects" | "Face reading should work" | "Add audio option"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4032504"/>
            <a:ext cx="2286000" cy="65836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01752" y="40690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Advocacy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1752" y="441655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mentions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87752" y="4032504"/>
            <a:ext cx="6300216" cy="658368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79192" y="4032504"/>
            <a:ext cx="61173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"Very impressive" | "Will recommend to family" | "Quite accurate predictions"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— TAM Alignment &amp; Market Positioning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13 / 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932688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260"/>
                </a:solidFill>
              </a:rPr>
              <a:t>TAM Construct Validation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298448"/>
            <a:ext cx="4160520" cy="603504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298448"/>
            <a:ext cx="73152" cy="603504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13350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Perceived Usefulness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high satisfaction confirms genuine utility. Birth Chart users rate 8-10/10 consistently.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2011680"/>
            <a:ext cx="416052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2011680"/>
            <a:ext cx="73152" cy="603504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204825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Perceived Ease of Use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usability complaints in qualitative data. Simple feature-card homepage works.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724912"/>
            <a:ext cx="4160520" cy="603504"/>
          </a:xfrm>
          <a:prstGeom prst="rect">
            <a:avLst/>
          </a:prstGeom>
          <a:solidFill>
            <a:srgbClr val="D6E8F5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724912"/>
            <a:ext cx="73152" cy="603504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" y="276148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(AI Moderator)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" y="29992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Reading 58.8% trust — higher than literature expected. Cultural legitimacy factor.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3438144"/>
            <a:ext cx="416052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3438144"/>
            <a:ext cx="73152" cy="603504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" y="347472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Influence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" y="3712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users cite social referral as discovery channel — word-of-mouth driving trial.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932688"/>
            <a:ext cx="0" cy="3840480"/>
          </a:xfrm>
          <a:prstGeom prst="line">
            <a:avLst/>
          </a:prstGeom>
          <a:noFill/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93268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260"/>
                </a:solidFill>
              </a:rPr>
              <a:t>Entertainment-Utility Duality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1298448"/>
            <a:ext cx="4114800" cy="603504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13441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ACQUISITION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15727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Face Reading (entertainment, novelty, low effort)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0" y="1956816"/>
            <a:ext cx="0" cy="320040"/>
          </a:xfrm>
          <a:prstGeom prst="line">
            <a:avLst/>
          </a:prstGeom>
          <a:noFill/>
          <a:ln w="25400">
            <a:solidFill>
              <a:srgbClr val="1E32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2304288"/>
            <a:ext cx="4114800" cy="603504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3500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RETENTION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25786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CCEE"/>
                </a:solidFill>
              </a:rPr>
              <a:t>Birth Chart (utility, depth, serious guidance)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58000" y="2962656"/>
            <a:ext cx="0" cy="320040"/>
          </a:xfrm>
          <a:prstGeom prst="line">
            <a:avLst/>
          </a:prstGeom>
          <a:noFill/>
          <a:ln w="25400">
            <a:solidFill>
              <a:srgbClr val="1E32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00600" y="3310128"/>
            <a:ext cx="4114800" cy="60350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33558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MONETISATION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3584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FFCC"/>
                </a:solidFill>
              </a:rPr>
              <a:t>AI Chatbot (personalized, high-value, freemium)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&amp; Roadmap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14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548640" cy="640080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960120"/>
            <a:ext cx="800100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996696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Language Localization (Priority 1 — 0-3 months)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261872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of users requested Hindi unprompted. Implement via Claude API language parameter + language selector on homepage. ETA: 2-3 weeks.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746504"/>
            <a:ext cx="548640" cy="640080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746504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1746504"/>
            <a:ext cx="800100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1783080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Face Reading + UX Clarity (0-3 months)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048256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Face Reading technical issues. Add explicit scale labels (1=Very Dissatisfied, 10=Very Satisfied). Add onboarding tutorial.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532888"/>
            <a:ext cx="548640" cy="640080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53288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68680" y="2532888"/>
            <a:ext cx="800100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2569464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Depth Enhancement (3-6 months)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834640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Birth Chart: 12-house analysis, Dasha-Bhukti predictions, Nakshatra details. Add Kundali matching (marriage compatibility).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319272"/>
            <a:ext cx="548640" cy="640080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31927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8680" y="3319272"/>
            <a:ext cx="800100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0120" y="3355848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/ Audio Integration (3-6 months)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621024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Text-to-speech for all content. Hindi voice commands for chatbot. Shareable WhatsApp/Instagram horoscope graphics for viral growth.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105656"/>
            <a:ext cx="548640" cy="640080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10565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68680" y="4105656"/>
            <a:ext cx="8001000" cy="640080"/>
          </a:xfrm>
          <a:prstGeom prst="rect">
            <a:avLst/>
          </a:prstGeom>
          <a:solidFill>
            <a:srgbClr val="D6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0120" y="4142232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Model Launch (6-12 months)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4407408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| Premium Rs.99/month (detailed kundali, unlimited chat) | Pro Rs.299/month (custom reports, priority support). Target: 500 users = Rs.50K/month.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38100">
            <a:solidFill>
              <a:srgbClr val="4A8D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13816"/>
            <a:ext cx="9144000" cy="0"/>
          </a:xfrm>
          <a:prstGeom prst="line">
            <a:avLst/>
          </a:prstGeom>
          <a:noFill/>
          <a:ln w="38100">
            <a:solidFill>
              <a:srgbClr val="E87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Theoretical Contribution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</a:rPr>
              <a:t>15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941832"/>
            <a:ext cx="4160520" cy="1554480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941832"/>
            <a:ext cx="4160520" cy="38404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941832"/>
            <a:ext cx="548640" cy="384048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94183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" y="1005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Product-Market Fit Validated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" y="1399032"/>
            <a:ext cx="4005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n=80 study confirms 7.62/10 satisfaction and 48.8% definite regular usage. Zero respondents found no value. Strong PMF within the 36+ astrology-interested segment.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18304" y="941832"/>
            <a:ext cx="4160520" cy="1554480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18304" y="941832"/>
            <a:ext cx="4160520" cy="38404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18304" y="941832"/>
            <a:ext cx="548640" cy="384048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18304" y="94183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21808" y="1005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Localization is Non-Negotiable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1456" y="1399032"/>
            <a:ext cx="4005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inaccessibility is the single largest barrier to mass market penetration, directly causing a 1/10 score and limiting the Hindi belt's 44% of India's population.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633472"/>
            <a:ext cx="4160520" cy="1554480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2633472"/>
            <a:ext cx="4160520" cy="38404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2633472"/>
            <a:ext cx="548640" cy="384048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" y="263347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9536" y="2697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Value Architecture Works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" y="3090672"/>
            <a:ext cx="4005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 (Face Reading) → Acquisition. Utility (Birth Chart) → Retention. This design pattern is validated empirically and commercially scalable.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18304" y="2633472"/>
            <a:ext cx="4160520" cy="1554480"/>
          </a:xfrm>
          <a:prstGeom prst="rect">
            <a:avLst/>
          </a:prstGeom>
          <a:solidFill>
            <a:srgbClr val="D6E8F5"/>
          </a:solidFill>
          <a:ln w="635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18304" y="2633472"/>
            <a:ext cx="4160520" cy="384048"/>
          </a:xfrm>
          <a:prstGeom prst="rect">
            <a:avLst/>
          </a:prstGeom>
          <a:solidFill>
            <a:srgbClr val="1E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18304" y="2633472"/>
            <a:ext cx="548640" cy="384048"/>
          </a:xfrm>
          <a:prstGeom prst="rect">
            <a:avLst/>
          </a:prstGeom>
          <a:solidFill>
            <a:srgbClr val="E87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18304" y="263347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21808" y="2697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Contribution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3090672"/>
            <a:ext cx="4005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empirical application of TAM+UTAUT to AI-powered spiritual applications in India. Reveals cultural trust dynamics, language moderation, and hedonic-utility duality unexplored in existing literature.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Google Shape;113;p3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114;p3"/>
          <p:cNvGrpSpPr/>
          <p:nvPr/>
        </p:nvGrpSpPr>
        <p:grpSpPr>
          <a:xfrm>
            <a:off x="0" y="-72331"/>
            <a:ext cx="9144000" cy="5215831"/>
            <a:chOff x="0" y="-38100"/>
            <a:chExt cx="4816593" cy="2747433"/>
          </a:xfrm>
        </p:grpSpPr>
        <p:sp>
          <p:nvSpPr>
            <p:cNvPr id="1048657" name="Google Shape;115;p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3214D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1048658" name="Google Shape;116;p3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algn="ctr">
                <a:lnSpc>
                  <a:spcPct val="171055"/>
                </a:lnSpc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8659" name="Google Shape;117;p3"/>
          <p:cNvSpPr/>
          <p:nvPr/>
        </p:nvSpPr>
        <p:spPr>
          <a:xfrm>
            <a:off x="3771899" y="1162050"/>
            <a:ext cx="1600200" cy="1112140"/>
          </a:xfrm>
          <a:custGeom>
            <a:avLst/>
            <a:gdLst/>
            <a:ahLst/>
            <a:cxnLst/>
            <a:rect l="l" t="t" r="r" b="b"/>
            <a:pathLst>
              <a:path w="1918280" h="1333205" extrusionOk="0">
                <a:moveTo>
                  <a:pt x="0" y="0"/>
                </a:moveTo>
                <a:lnTo>
                  <a:pt x="1918280" y="0"/>
                </a:lnTo>
                <a:lnTo>
                  <a:pt x="1918280" y="1333205"/>
                </a:lnTo>
                <a:lnTo>
                  <a:pt x="0" y="1333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900"/>
          </a:p>
        </p:txBody>
      </p:sp>
      <p:sp>
        <p:nvSpPr>
          <p:cNvPr id="1048660" name="Google Shape;118;p3"/>
          <p:cNvSpPr txBox="1"/>
          <p:nvPr/>
        </p:nvSpPr>
        <p:spPr>
          <a:xfrm>
            <a:off x="2022032" y="2571750"/>
            <a:ext cx="5099935" cy="108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3"/>
              </a:lnSpc>
            </a:pPr>
            <a:r>
              <a:rPr lang="en-US" sz="5045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sz="5045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1930</Words>
  <Application>Microsoft Macintosh PowerPoint</Application>
  <PresentationFormat>On-screen Show (16:9)</PresentationFormat>
  <Paragraphs>307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Georgia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MRP1 Jyoti Darshan 16 Slides</dc:title>
  <dc:subject>PptxGenJS Presentation</dc:subject>
  <dc:creator>PptxGenJS</dc:creator>
  <cp:lastModifiedBy>Himanshu Rai</cp:lastModifiedBy>
  <cp:revision>4</cp:revision>
  <dcterms:created xsi:type="dcterms:W3CDTF">2026-03-17T15:19:40Z</dcterms:created>
  <dcterms:modified xsi:type="dcterms:W3CDTF">2026-03-20T17:55:13Z</dcterms:modified>
</cp:coreProperties>
</file>